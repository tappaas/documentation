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71" r:id="rId4"/>
  </p:sldMasterIdLst>
  <p:notesMasterIdLst>
    <p:notesMasterId r:id="rId22"/>
  </p:notesMasterIdLst>
  <p:handoutMasterIdLst>
    <p:handoutMasterId r:id="rId23"/>
  </p:handoutMasterIdLst>
  <p:sldIdLst>
    <p:sldId id="262" r:id="rId13"/>
    <p:sldId id="2147474642" r:id="rId10"/>
    <p:sldId id="32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780F24-3FF0-2E92-5BDD-FD7B654374DC}" name="Erik" initials="Ev" userId="S::Erik.van-Busschbach@gridtefy.nl::255142c9-5b2e-45f9-ae6b-e5ddb441f03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B82"/>
    <a:srgbClr val="0D5163"/>
    <a:srgbClr val="003940"/>
    <a:srgbClr val="0066FF"/>
    <a:srgbClr val="D8E2E6"/>
    <a:srgbClr val="C8D47C"/>
    <a:srgbClr val="0099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0"/>
    <p:restoredTop sz="87108"/>
  </p:normalViewPr>
  <p:slideViewPr>
    <p:cSldViewPr snapToGrid="0">
      <p:cViewPr varScale="1">
        <p:scale>
          <a:sx n="172" d="100"/>
          <a:sy n="172" d="100"/>
        </p:scale>
        <p:origin x="1184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9A30CD-F83B-2B04-EDFC-3F05A3A85F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5588E-2C75-A95A-7C9A-2B7F80E6CF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F977-97C7-49F7-A9A9-69C7FFEB8457}" type="datetimeFigureOut">
              <a:rPr lang="nl-NL" smtClean="0"/>
              <a:t>01-07-2026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18D40-AD88-1116-5D65-E1613E5190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C45D9-0B15-ABC7-7DDA-366F9122BE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19317-E20C-4F70-80F7-6BE73E36E6F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3972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DA382-5AD1-4E6F-A6CF-0DB00BCDDF39}" type="datetimeFigureOut">
              <a:rPr lang="nl-NL" smtClean="0"/>
              <a:t>01-07-2026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8D211-90BB-492A-B1CD-27B095B0404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043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FD21B-56AA-0B4C-B029-6F21B40FFBD8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5654247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178" y="2882582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5400" b="1" spc="-300" baseline="0">
                <a:solidFill>
                  <a:schemeClr val="accent1"/>
                </a:solidFill>
                <a:effectLst/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177" y="2112929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2800" b="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D384936-28A0-99E2-9A9F-915EB80A5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5453" y="4539701"/>
            <a:ext cx="6310723" cy="866384"/>
          </a:xfrm>
        </p:spPr>
        <p:txBody>
          <a:bodyPr>
            <a:normAutofit/>
          </a:bodyPr>
          <a:lstStyle>
            <a:lvl1pPr marL="0" indent="0" algn="r">
              <a:buNone/>
              <a:defRPr sz="180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Name, Role</a:t>
            </a:r>
            <a:endParaRPr lang="nl-NL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090567-A0BF-9357-26F5-951EEA13CA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1145" y="5406085"/>
            <a:ext cx="3915031" cy="467355"/>
          </a:xfrm>
        </p:spPr>
        <p:txBody>
          <a:bodyPr>
            <a:normAutofit/>
          </a:bodyPr>
          <a:lstStyle>
            <a:lvl1pPr marL="0" indent="0" algn="r">
              <a:buNone/>
              <a:defRPr sz="180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5DAB982-1F50-6E23-C253-5D0D3A88F9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666" y="108471"/>
            <a:ext cx="3860865" cy="127694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87C8D-B3EB-2CF0-82C9-772786025F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</p:spTree>
    <p:extLst>
      <p:ext uri="{BB962C8B-B14F-4D97-AF65-F5344CB8AC3E}">
        <p14:creationId xmlns:p14="http://schemas.microsoft.com/office/powerpoint/2010/main" val="85061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178" y="2882582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5400" b="1" spc="-300" baseline="0">
                <a:solidFill>
                  <a:schemeClr val="accent1"/>
                </a:solidFill>
                <a:effectLst/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177" y="2112929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2800" b="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D384936-28A0-99E2-9A9F-915EB80A5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5453" y="4539701"/>
            <a:ext cx="6310723" cy="866384"/>
          </a:xfrm>
        </p:spPr>
        <p:txBody>
          <a:bodyPr>
            <a:normAutofit/>
          </a:bodyPr>
          <a:lstStyle>
            <a:lvl1pPr marL="0" indent="0" algn="r">
              <a:buNone/>
              <a:defRPr sz="180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Name, Role</a:t>
            </a:r>
            <a:endParaRPr lang="nl-NL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090567-A0BF-9357-26F5-951EEA13CA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1145" y="5406085"/>
            <a:ext cx="3915031" cy="467355"/>
          </a:xfrm>
        </p:spPr>
        <p:txBody>
          <a:bodyPr>
            <a:normAutofit/>
          </a:bodyPr>
          <a:lstStyle>
            <a:lvl1pPr marL="0" indent="0" algn="r">
              <a:buNone/>
              <a:defRPr sz="180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5DAB982-1F50-6E23-C253-5D0D3A88F9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666" y="108471"/>
            <a:ext cx="3860865" cy="127694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87C8D-B3EB-2CF0-82C9-772786025F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343400" y="6453188"/>
            <a:ext cx="3505200" cy="228600"/>
          </a:xfrm>
        </p:spPr>
        <p:txBody>
          <a:bodyPr/>
          <a:lstStyle>
            <a:lvl1pPr algn="ctr">
              <a:defRPr baseline="0">
                <a:latin typeface="Corbel" panose="02000503000000020004" pitchFamily="2" charset="0"/>
              </a:defRPr>
            </a:lvl1pPr>
          </a:lstStyle>
          <a:p>
            <a:r>
              <a:rPr lang="nl-NL" dirty="0"/>
              <a:t>© Gridtefy B.V. 2026</a:t>
            </a:r>
          </a:p>
        </p:txBody>
      </p:sp>
    </p:spTree>
    <p:extLst>
      <p:ext uri="{BB962C8B-B14F-4D97-AF65-F5344CB8AC3E}">
        <p14:creationId xmlns:p14="http://schemas.microsoft.com/office/powerpoint/2010/main" val="85061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178" y="2882582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5400" b="1" spc="-300" baseline="0">
                <a:solidFill>
                  <a:schemeClr val="accent1"/>
                </a:solidFill>
                <a:effectLst/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177" y="2112929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2800" b="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D384936-28A0-99E2-9A9F-915EB80A5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5453" y="4539701"/>
            <a:ext cx="6310723" cy="866384"/>
          </a:xfrm>
        </p:spPr>
        <p:txBody>
          <a:bodyPr>
            <a:normAutofit/>
          </a:bodyPr>
          <a:lstStyle>
            <a:lvl1pPr marL="0" indent="0" algn="r">
              <a:buNone/>
              <a:defRPr sz="180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Name, Role</a:t>
            </a:r>
            <a:endParaRPr lang="nl-NL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090567-A0BF-9357-26F5-951EEA13CA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1145" y="5406085"/>
            <a:ext cx="3915031" cy="467355"/>
          </a:xfrm>
        </p:spPr>
        <p:txBody>
          <a:bodyPr>
            <a:normAutofit/>
          </a:bodyPr>
          <a:lstStyle>
            <a:lvl1pPr marL="0" indent="0" algn="r">
              <a:buNone/>
              <a:defRPr sz="1800" baseline="0">
                <a:solidFill>
                  <a:schemeClr val="accent2"/>
                </a:solidFill>
                <a:latin typeface="Corbel" panose="02000503000000020004" pitchFamily="2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5DAB982-1F50-6E23-C253-5D0D3A88F9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666" y="108471"/>
            <a:ext cx="3860865" cy="127694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87C8D-B3EB-2CF0-82C9-772786025F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343400" y="6453188"/>
            <a:ext cx="3505200" cy="228600"/>
          </a:xfrm>
        </p:spPr>
        <p:txBody>
          <a:bodyPr/>
          <a:lstStyle>
            <a:lvl1pPr algn="ctr">
              <a:defRPr baseline="0">
                <a:latin typeface="Corbel" panose="02000503000000020004" pitchFamily="2" charset="0"/>
              </a:defRPr>
            </a:lvl1pPr>
          </a:lstStyle>
          <a:p>
            <a:r>
              <a:rPr lang="nl-NL" dirty="0"/>
              <a:t>© Gridtefy B.V. 2026</a:t>
            </a:r>
          </a:p>
        </p:txBody>
      </p:sp>
    </p:spTree>
    <p:extLst>
      <p:ext uri="{BB962C8B-B14F-4D97-AF65-F5344CB8AC3E}">
        <p14:creationId xmlns:p14="http://schemas.microsoft.com/office/powerpoint/2010/main" val="85061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 - Ligh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178" y="2882582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7200" b="1" spc="-30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177" y="2112929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solidFill>
                  <a:schemeClr val="tx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D384936-28A0-99E2-9A9F-915EB80A5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5453" y="4539701"/>
            <a:ext cx="6310723" cy="86638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Name, Role</a:t>
            </a:r>
            <a:endParaRPr lang="nl-NL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090567-A0BF-9357-26F5-951EEA13CA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1145" y="5406085"/>
            <a:ext cx="3915031" cy="46735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F9221-0D72-E6BF-7C5A-5778888EF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454" y="369847"/>
            <a:ext cx="2874714" cy="86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0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7200" b="1" spc="-30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solidFill>
                  <a:schemeClr val="tx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7BFDA6-1AA1-D38F-255F-ED1EBC045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454" y="369847"/>
            <a:ext cx="2874714" cy="86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075"/>
            <a:ext cx="10515600" cy="4814888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1pPr>
            <a:lvl2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2pPr>
            <a:lvl3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3pPr>
            <a:lvl4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4pPr>
            <a:lvl5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E215D3E-3514-FA56-5408-E0A25BE7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ijdelijke aanduiding voor datum 14">
            <a:extLst>
              <a:ext uri="{FF2B5EF4-FFF2-40B4-BE49-F238E27FC236}">
                <a16:creationId xmlns:a16="http://schemas.microsoft.com/office/drawing/2014/main" id="{22CD06B5-684B-1CFE-A56B-6C612D7E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17" name="Tijdelijke aanduiding voor dianummer 16">
            <a:extLst>
              <a:ext uri="{FF2B5EF4-FFF2-40B4-BE49-F238E27FC236}">
                <a16:creationId xmlns:a16="http://schemas.microsoft.com/office/drawing/2014/main" id="{271A7641-BEB8-28E8-AAFB-76556BF4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0AE1C6-A9C6-EF41-59B8-89886A7BAE5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C11D0-5505-185E-64D2-2B4D378955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9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58538"/>
            <a:ext cx="5033960" cy="482713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367245"/>
            <a:ext cx="5033960" cy="481842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76118DE-E513-E8A3-08E0-378FE167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ijdelijke aanduiding voor datum 18">
            <a:extLst>
              <a:ext uri="{FF2B5EF4-FFF2-40B4-BE49-F238E27FC236}">
                <a16:creationId xmlns:a16="http://schemas.microsoft.com/office/drawing/2014/main" id="{12990F91-0788-673D-4DE0-3A79F2B5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/>
          </a:p>
        </p:txBody>
      </p:sp>
      <p:sp>
        <p:nvSpPr>
          <p:cNvPr id="21" name="Tijdelijke aanduiding voor dianummer 20">
            <a:extLst>
              <a:ext uri="{FF2B5EF4-FFF2-40B4-BE49-F238E27FC236}">
                <a16:creationId xmlns:a16="http://schemas.microsoft.com/office/drawing/2014/main" id="{E4FE3F05-2E28-C687-2D55-0CDD4B0E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093207-7E20-E603-9C25-6717462F2DF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90306C-D611-DCAE-5959-9DE812FA3CB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359812"/>
            <a:ext cx="5035548" cy="660577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2187813"/>
            <a:ext cx="5035548" cy="400185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359812"/>
            <a:ext cx="5035548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187813"/>
            <a:ext cx="5035548" cy="400185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1D580FD-4D42-CF82-A92D-564E4D45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ijdelijke aanduiding voor datum 17">
            <a:extLst>
              <a:ext uri="{FF2B5EF4-FFF2-40B4-BE49-F238E27FC236}">
                <a16:creationId xmlns:a16="http://schemas.microsoft.com/office/drawing/2014/main" id="{65583E62-074F-BB06-FDDC-F1F0126C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/>
          </a:p>
        </p:txBody>
      </p:sp>
      <p:sp>
        <p:nvSpPr>
          <p:cNvPr id="20" name="Tijdelijke aanduiding voor dianummer 19">
            <a:extLst>
              <a:ext uri="{FF2B5EF4-FFF2-40B4-BE49-F238E27FC236}">
                <a16:creationId xmlns:a16="http://schemas.microsoft.com/office/drawing/2014/main" id="{DC7836B5-0C37-56A7-D681-1BFB7949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628BB3-8D54-6CD3-20DA-6402968071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0AEC8B-4FD0-D0CF-9CF7-BA00E6146B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4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4352" y="1359812"/>
            <a:ext cx="3117932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40251" y="1359812"/>
            <a:ext cx="3113549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60421" y="1359812"/>
            <a:ext cx="3129215" cy="660577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81145" y="2187076"/>
            <a:ext cx="3108491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50375" y="2187076"/>
            <a:ext cx="3129138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240251" y="2187076"/>
            <a:ext cx="3113549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0624708-D754-DE39-AFA4-0C44ABF5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ijdelijke aanduiding voor datum 19">
            <a:extLst>
              <a:ext uri="{FF2B5EF4-FFF2-40B4-BE49-F238E27FC236}">
                <a16:creationId xmlns:a16="http://schemas.microsoft.com/office/drawing/2014/main" id="{92311D99-2EF5-8038-E1CD-7407DAA3D8B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453188"/>
            <a:ext cx="3505200" cy="228600"/>
          </a:xfr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/>
          </a:p>
        </p:txBody>
      </p:sp>
      <p:sp>
        <p:nvSpPr>
          <p:cNvPr id="22" name="Tijdelijke aanduiding voor dianummer 21">
            <a:extLst>
              <a:ext uri="{FF2B5EF4-FFF2-40B4-BE49-F238E27FC236}">
                <a16:creationId xmlns:a16="http://schemas.microsoft.com/office/drawing/2014/main" id="{CE2114CA-C1CA-EFD9-1F22-540242D9B7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848600" y="6453188"/>
            <a:ext cx="1505200" cy="228600"/>
          </a:xfr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666468-0FA6-3DEE-4A58-94A94FCAAFB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9DEF177-E424-6BF1-7B37-7B40D41F6D3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8550" y="4579471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33450" y="1751819"/>
            <a:ext cx="3235559" cy="226865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8550" y="5155733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8359" y="4557077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7829" y="1761053"/>
            <a:ext cx="3225077" cy="226865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57006" y="5133338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07290" y="4579471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31726" y="1769384"/>
            <a:ext cx="3226824" cy="226865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207165" y="5155730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C32036E3-7152-9771-B479-F4791CA5226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453188"/>
            <a:ext cx="3505200" cy="228600"/>
          </a:xfr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26F440AE-BFB0-629F-5896-65B2A028511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9848600" y="6453188"/>
            <a:ext cx="1505200" cy="228600"/>
          </a:xfr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CD43FE-8CB2-D5C7-F0FD-C7FA6EC4351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1EDD9-CF09-7E67-4686-68BAED2F72D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5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ijdelijke aanduiding voor datum 12">
            <a:extLst>
              <a:ext uri="{FF2B5EF4-FFF2-40B4-BE49-F238E27FC236}">
                <a16:creationId xmlns:a16="http://schemas.microsoft.com/office/drawing/2014/main" id="{6BF16ABB-5B7C-A803-3198-4D274F1D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/>
          </a:p>
        </p:txBody>
      </p:sp>
      <p:sp>
        <p:nvSpPr>
          <p:cNvPr id="15" name="Tijdelijke aanduiding voor dianummer 14">
            <a:extLst>
              <a:ext uri="{FF2B5EF4-FFF2-40B4-BE49-F238E27FC236}">
                <a16:creationId xmlns:a16="http://schemas.microsoft.com/office/drawing/2014/main" id="{D91606FD-15BA-7610-8AFB-16F2A8C7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E3B7C-0863-359C-D50E-23E7BCE8F8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</p:spTree>
    <p:extLst>
      <p:ext uri="{BB962C8B-B14F-4D97-AF65-F5344CB8AC3E}">
        <p14:creationId xmlns:p14="http://schemas.microsoft.com/office/powerpoint/2010/main" val="1962477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33500"/>
            <a:ext cx="10515600" cy="5267325"/>
          </a:xfrm>
        </p:spPr>
        <p:txBody>
          <a:bodyPr vert="eaVert"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838200" y="6453188"/>
            <a:ext cx="3505200" cy="228600"/>
          </a:xfrm>
          <a:prstGeom prst="rect">
            <a:avLst/>
          </a:prstGeo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9848600" y="6453188"/>
            <a:ext cx="1505200" cy="228600"/>
          </a:xfrm>
          <a:prstGeom prst="rect">
            <a:avLst/>
          </a:prstGeo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3A981-D595-64B7-D8F5-B4E444847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03302" y="3448034"/>
            <a:ext cx="819152" cy="24768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51114-19B9-674A-3FC7-AA77200554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5400000"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</p:spTree>
    <p:extLst>
      <p:ext uri="{BB962C8B-B14F-4D97-AF65-F5344CB8AC3E}">
        <p14:creationId xmlns:p14="http://schemas.microsoft.com/office/powerpoint/2010/main" val="4084549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6235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6235700"/>
          </a:xfrm>
        </p:spPr>
        <p:txBody>
          <a:bodyPr vert="eaVert"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725BB0-AD45-FD58-7460-0CDA255B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38200" y="6453188"/>
            <a:ext cx="3505200" cy="228600"/>
          </a:xfrm>
          <a:prstGeom prst="rect">
            <a:avLst/>
          </a:prstGeom>
        </p:spPr>
        <p:txBody>
          <a:bodyPr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521B8-B6BB-BA6A-5CC3-6B92F70B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9848600" y="6453188"/>
            <a:ext cx="1505200" cy="228600"/>
          </a:xfrm>
          <a:prstGeom prst="rect">
            <a:avLst/>
          </a:prstGeom>
        </p:spPr>
        <p:txBody>
          <a:bodyPr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5CF1B-6916-BDBE-7708-2622F3C270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03302" y="3448034"/>
            <a:ext cx="819152" cy="24768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48561-0A86-7303-9109-48EF1A9DDA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5400000">
            <a:off x="4343400" y="6453188"/>
            <a:ext cx="3505200" cy="228600"/>
          </a:xfrm>
        </p:spPr>
        <p:txBody>
          <a:bodyPr/>
          <a:lstStyle/>
          <a:p>
            <a:r>
              <a:rPr lang="en-US" sz="800" dirty="0">
                <a:solidFill>
                  <a:srgbClr val="808080"/>
                </a:solidFill>
                <a:latin typeface="Corbel" panose="02000503000000020004" pitchFamily="2" charset="0"/>
              </a:rPr>
              <a:t>© Gridtefy B.V. 2026</a:t>
            </a:r>
          </a:p>
        </p:txBody>
      </p:sp>
    </p:spTree>
    <p:extLst>
      <p:ext uri="{BB962C8B-B14F-4D97-AF65-F5344CB8AC3E}">
        <p14:creationId xmlns:p14="http://schemas.microsoft.com/office/powerpoint/2010/main" val="1322762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075"/>
            <a:ext cx="10515600" cy="4814888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1pPr>
            <a:lvl2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2pPr>
            <a:lvl3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3pPr>
            <a:lvl4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4pPr>
            <a:lvl5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E215D3E-3514-FA56-5408-E0A25BE7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ijdelijke aanduiding voor datum 14">
            <a:extLst>
              <a:ext uri="{FF2B5EF4-FFF2-40B4-BE49-F238E27FC236}">
                <a16:creationId xmlns:a16="http://schemas.microsoft.com/office/drawing/2014/main" id="{22CD06B5-684B-1CFE-A56B-6C612D7E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>
            <a:extLst>
              <a:ext uri="{FF2B5EF4-FFF2-40B4-BE49-F238E27FC236}">
                <a16:creationId xmlns:a16="http://schemas.microsoft.com/office/drawing/2014/main" id="{271A7641-BEB8-28E8-AAFB-76556BF4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0AE1C6-A9C6-EF41-59B8-89886A7BAE5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 dirty="0"/>
              <a:t>© Gridtefy B.V.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C11D0-5505-185E-64D2-2B4D378955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90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58538"/>
            <a:ext cx="5033960" cy="482713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367245"/>
            <a:ext cx="5033960" cy="481842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76118DE-E513-E8A3-08E0-378FE167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ijdelijke aanduiding voor datum 18">
            <a:extLst>
              <a:ext uri="{FF2B5EF4-FFF2-40B4-BE49-F238E27FC236}">
                <a16:creationId xmlns:a16="http://schemas.microsoft.com/office/drawing/2014/main" id="{12990F91-0788-673D-4DE0-3A79F2B5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21" name="Tijdelijke aanduiding voor dianummer 20">
            <a:extLst>
              <a:ext uri="{FF2B5EF4-FFF2-40B4-BE49-F238E27FC236}">
                <a16:creationId xmlns:a16="http://schemas.microsoft.com/office/drawing/2014/main" id="{E4FE3F05-2E28-C687-2D55-0CDD4B0E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093207-7E20-E603-9C25-6717462F2DF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90306C-D611-DCAE-5959-9DE812FA3CB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359812"/>
            <a:ext cx="5035548" cy="660577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2187813"/>
            <a:ext cx="5035548" cy="400185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359812"/>
            <a:ext cx="5035548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187813"/>
            <a:ext cx="5035548" cy="400185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1D580FD-4D42-CF82-A92D-564E4D45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ijdelijke aanduiding voor datum 17">
            <a:extLst>
              <a:ext uri="{FF2B5EF4-FFF2-40B4-BE49-F238E27FC236}">
                <a16:creationId xmlns:a16="http://schemas.microsoft.com/office/drawing/2014/main" id="{65583E62-074F-BB06-FDDC-F1F0126C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20" name="Tijdelijke aanduiding voor dianummer 19">
            <a:extLst>
              <a:ext uri="{FF2B5EF4-FFF2-40B4-BE49-F238E27FC236}">
                <a16:creationId xmlns:a16="http://schemas.microsoft.com/office/drawing/2014/main" id="{DC7836B5-0C37-56A7-D681-1BFB7949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628BB3-8D54-6CD3-20DA-6402968071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0AEC8B-4FD0-D0CF-9CF7-BA00E6146B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43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4352" y="1359812"/>
            <a:ext cx="3117932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40251" y="1359812"/>
            <a:ext cx="3113549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60421" y="1359812"/>
            <a:ext cx="3129215" cy="660577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81145" y="2187076"/>
            <a:ext cx="3108491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50375" y="2187076"/>
            <a:ext cx="3129138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240251" y="2187076"/>
            <a:ext cx="3113549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0624708-D754-DE39-AFA4-0C44ABF5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ijdelijke aanduiding voor datum 19">
            <a:extLst>
              <a:ext uri="{FF2B5EF4-FFF2-40B4-BE49-F238E27FC236}">
                <a16:creationId xmlns:a16="http://schemas.microsoft.com/office/drawing/2014/main" id="{92311D99-2EF5-8038-E1CD-7407DAA3D8B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Tijdelijke aanduiding voor dianummer 21">
            <a:extLst>
              <a:ext uri="{FF2B5EF4-FFF2-40B4-BE49-F238E27FC236}">
                <a16:creationId xmlns:a16="http://schemas.microsoft.com/office/drawing/2014/main" id="{CE2114CA-C1CA-EFD9-1F22-540242D9B7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666468-0FA6-3DEE-4A58-94A94FCAAFB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9DEF177-E424-6BF1-7B37-7B40D41F6D3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1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8550" y="4579471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33450" y="1751819"/>
            <a:ext cx="3235559" cy="226865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8550" y="5155733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8359" y="4557077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7829" y="1761053"/>
            <a:ext cx="3225077" cy="226865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57006" y="5133338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07290" y="4579471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31726" y="1769384"/>
            <a:ext cx="3226824" cy="226865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207165" y="5155730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C32036E3-7152-9771-B479-F4791CA5226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26F440AE-BFB0-629F-5896-65B2A028511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CD43FE-8CB2-D5C7-F0FD-C7FA6EC4351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1EDD9-CF09-7E67-4686-68BAED2F72D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585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ijdelijke aanduiding voor datum 12">
            <a:extLst>
              <a:ext uri="{FF2B5EF4-FFF2-40B4-BE49-F238E27FC236}">
                <a16:creationId xmlns:a16="http://schemas.microsoft.com/office/drawing/2014/main" id="{6BF16ABB-5B7C-A803-3198-4D274F1D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15" name="Tijdelijke aanduiding voor dianummer 14">
            <a:extLst>
              <a:ext uri="{FF2B5EF4-FFF2-40B4-BE49-F238E27FC236}">
                <a16:creationId xmlns:a16="http://schemas.microsoft.com/office/drawing/2014/main" id="{D91606FD-15BA-7610-8AFB-16F2A8C7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E3B7C-0863-359C-D50E-23E7BCE8F8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 dirty="0"/>
              <a:t>© Gridtefy B.V.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674A0E3-FDD2-7366-72CB-766AD6FFD9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77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33500"/>
            <a:ext cx="10515600" cy="5267325"/>
          </a:xfrm>
        </p:spPr>
        <p:txBody>
          <a:bodyPr vert="eaVert"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838200" y="6453188"/>
            <a:ext cx="3505200" cy="22860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9848600" y="6453188"/>
            <a:ext cx="1505200" cy="228600"/>
          </a:xfrm>
          <a:prstGeom prst="rect">
            <a:avLst/>
          </a:prstGeom>
        </p:spPr>
        <p:txBody>
          <a:bodyPr/>
          <a:lstStyle/>
          <a:p>
            <a:fld id="{37372BE2-151A-4377-837B-42D528CD68B6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3A981-D595-64B7-D8F5-B4E444847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03302" y="3448034"/>
            <a:ext cx="819152" cy="24768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51114-19B9-674A-3FC7-AA77200554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5400000"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4549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6235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6235700"/>
          </a:xfrm>
        </p:spPr>
        <p:txBody>
          <a:bodyPr vert="eaVert"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725BB0-AD45-FD58-7460-0CDA255B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38200" y="6453188"/>
            <a:ext cx="3505200" cy="22860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521B8-B6BB-BA6A-5CC3-6B92F70B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9848600" y="6453188"/>
            <a:ext cx="1505200" cy="228600"/>
          </a:xfrm>
          <a:prstGeom prst="rect">
            <a:avLst/>
          </a:prstGeom>
        </p:spPr>
        <p:txBody>
          <a:bodyPr/>
          <a:lstStyle/>
          <a:p>
            <a:fld id="{37372BE2-151A-4377-837B-42D528CD68B6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5CF1B-6916-BDBE-7708-2622F3C270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03302" y="3448034"/>
            <a:ext cx="819152" cy="24768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48561-0A86-7303-9109-48EF1A9DDA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5400000"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2762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075"/>
            <a:ext cx="10515600" cy="4814888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1pPr>
            <a:lvl2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2pPr>
            <a:lvl3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3pPr>
            <a:lvl4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4pPr>
            <a:lvl5pPr>
              <a:defRPr>
                <a:solidFill>
                  <a:schemeClr val="accent2"/>
                </a:solidFill>
                <a:latin typeface="Corbel" panose="02000503000000020004" pitchFamily="2" charset="0"/>
                <a:ea typeface="Corbel" panose="02000503000000020004" pitchFamily="2" charset="0"/>
                <a:cs typeface="Corbel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E215D3E-3514-FA56-5408-E0A25BE7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ijdelijke aanduiding voor datum 14">
            <a:extLst>
              <a:ext uri="{FF2B5EF4-FFF2-40B4-BE49-F238E27FC236}">
                <a16:creationId xmlns:a16="http://schemas.microsoft.com/office/drawing/2014/main" id="{22CD06B5-684B-1CFE-A56B-6C612D7E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>
            <a:extLst>
              <a:ext uri="{FF2B5EF4-FFF2-40B4-BE49-F238E27FC236}">
                <a16:creationId xmlns:a16="http://schemas.microsoft.com/office/drawing/2014/main" id="{271A7641-BEB8-28E8-AAFB-76556BF4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0AE1C6-A9C6-EF41-59B8-89886A7BAE5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 dirty="0"/>
              <a:t>© Gridtefy B.V.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C11D0-5505-185E-64D2-2B4D378955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90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58538"/>
            <a:ext cx="5033960" cy="482713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367245"/>
            <a:ext cx="5033960" cy="481842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76118DE-E513-E8A3-08E0-378FE167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ijdelijke aanduiding voor datum 18">
            <a:extLst>
              <a:ext uri="{FF2B5EF4-FFF2-40B4-BE49-F238E27FC236}">
                <a16:creationId xmlns:a16="http://schemas.microsoft.com/office/drawing/2014/main" id="{12990F91-0788-673D-4DE0-3A79F2B5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21" name="Tijdelijke aanduiding voor dianummer 20">
            <a:extLst>
              <a:ext uri="{FF2B5EF4-FFF2-40B4-BE49-F238E27FC236}">
                <a16:creationId xmlns:a16="http://schemas.microsoft.com/office/drawing/2014/main" id="{E4FE3F05-2E28-C687-2D55-0CDD4B0E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093207-7E20-E603-9C25-6717462F2DF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C90306C-D611-DCAE-5959-9DE812FA3CB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4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359812"/>
            <a:ext cx="5035548" cy="660577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2187813"/>
            <a:ext cx="5035548" cy="400185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359812"/>
            <a:ext cx="5035548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8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187813"/>
            <a:ext cx="5035548" cy="400185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1D580FD-4D42-CF82-A92D-564E4D45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ijdelijke aanduiding voor datum 17">
            <a:extLst>
              <a:ext uri="{FF2B5EF4-FFF2-40B4-BE49-F238E27FC236}">
                <a16:creationId xmlns:a16="http://schemas.microsoft.com/office/drawing/2014/main" id="{65583E62-074F-BB06-FDDC-F1F0126C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20" name="Tijdelijke aanduiding voor dianummer 19">
            <a:extLst>
              <a:ext uri="{FF2B5EF4-FFF2-40B4-BE49-F238E27FC236}">
                <a16:creationId xmlns:a16="http://schemas.microsoft.com/office/drawing/2014/main" id="{DC7836B5-0C37-56A7-D681-1BFB7949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628BB3-8D54-6CD3-20DA-6402968071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0AEC8B-4FD0-D0CF-9CF7-BA00E6146B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435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4352" y="1359812"/>
            <a:ext cx="3117932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40251" y="1359812"/>
            <a:ext cx="3113549" cy="66057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60421" y="1359812"/>
            <a:ext cx="3129215" cy="660577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81145" y="2187076"/>
            <a:ext cx="3108491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50375" y="2187076"/>
            <a:ext cx="3129138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240251" y="2187076"/>
            <a:ext cx="3113549" cy="3974012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0624708-D754-DE39-AFA4-0C44ABF5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ijdelijke aanduiding voor datum 19">
            <a:extLst>
              <a:ext uri="{FF2B5EF4-FFF2-40B4-BE49-F238E27FC236}">
                <a16:creationId xmlns:a16="http://schemas.microsoft.com/office/drawing/2014/main" id="{92311D99-2EF5-8038-E1CD-7407DAA3D8B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Tijdelijke aanduiding voor dianummer 21">
            <a:extLst>
              <a:ext uri="{FF2B5EF4-FFF2-40B4-BE49-F238E27FC236}">
                <a16:creationId xmlns:a16="http://schemas.microsoft.com/office/drawing/2014/main" id="{CE2114CA-C1CA-EFD9-1F22-540242D9B7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666468-0FA6-3DEE-4A58-94A94FCAAFB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9DEF177-E424-6BF1-7B37-7B40D41F6D3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16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8550" y="4579471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33450" y="1751819"/>
            <a:ext cx="3235559" cy="226865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8550" y="5155733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8359" y="4557077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7829" y="1761053"/>
            <a:ext cx="3225077" cy="226865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57006" y="5133338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07290" y="4579471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31726" y="1769384"/>
            <a:ext cx="3226824" cy="226865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207165" y="5155730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C32036E3-7152-9771-B479-F4791CA5226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26F440AE-BFB0-629F-5896-65B2A028511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CD43FE-8CB2-D5C7-F0FD-C7FA6EC4351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1EDD9-CF09-7E67-4686-68BAED2F72D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58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ijdelijke aanduiding voor datum 12">
            <a:extLst>
              <a:ext uri="{FF2B5EF4-FFF2-40B4-BE49-F238E27FC236}">
                <a16:creationId xmlns:a16="http://schemas.microsoft.com/office/drawing/2014/main" id="{6BF16ABB-5B7C-A803-3198-4D274F1D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3188"/>
            <a:ext cx="3505200" cy="228600"/>
          </a:xfrm>
        </p:spPr>
        <p:txBody>
          <a:bodyPr/>
          <a:lstStyle/>
          <a:p>
            <a:endParaRPr lang="nl-NL"/>
          </a:p>
        </p:txBody>
      </p:sp>
      <p:sp>
        <p:nvSpPr>
          <p:cNvPr id="15" name="Tijdelijke aanduiding voor dianummer 14">
            <a:extLst>
              <a:ext uri="{FF2B5EF4-FFF2-40B4-BE49-F238E27FC236}">
                <a16:creationId xmlns:a16="http://schemas.microsoft.com/office/drawing/2014/main" id="{D91606FD-15BA-7610-8AFB-16F2A8C7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8600" y="6453188"/>
            <a:ext cx="1505200" cy="228600"/>
          </a:xfrm>
        </p:spPr>
        <p:txBody>
          <a:bodyPr/>
          <a:lstStyle/>
          <a:p>
            <a:fld id="{37372BE2-151A-4377-837B-42D528CD68B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E3B7C-0863-359C-D50E-23E7BCE8F8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nl-NL" dirty="0"/>
              <a:t>© Gridtefy B.V.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674A0E3-FDD2-7366-72CB-766AD6FFD9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96" r="78060" b="18670"/>
          <a:stretch/>
        </p:blipFill>
        <p:spPr>
          <a:xfrm>
            <a:off x="350623" y="6388898"/>
            <a:ext cx="279026" cy="2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77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33500"/>
            <a:ext cx="10515600" cy="5267325"/>
          </a:xfrm>
        </p:spPr>
        <p:txBody>
          <a:bodyPr vert="eaVert"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838200" y="6453188"/>
            <a:ext cx="3505200" cy="22860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9848600" y="6453188"/>
            <a:ext cx="1505200" cy="228600"/>
          </a:xfrm>
          <a:prstGeom prst="rect">
            <a:avLst/>
          </a:prstGeom>
        </p:spPr>
        <p:txBody>
          <a:bodyPr/>
          <a:lstStyle/>
          <a:p>
            <a:fld id="{37372BE2-151A-4377-837B-42D528CD68B6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3A981-D595-64B7-D8F5-B4E444847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03302" y="3448034"/>
            <a:ext cx="819152" cy="24768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51114-19B9-674A-3FC7-AA77200554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5400000"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45497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6235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6235700"/>
          </a:xfrm>
        </p:spPr>
        <p:txBody>
          <a:bodyPr vert="eaVert"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725BB0-AD45-FD58-7460-0CDA255B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38200" y="6453188"/>
            <a:ext cx="3505200" cy="22860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521B8-B6BB-BA6A-5CC3-6B92F70B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9848600" y="6453188"/>
            <a:ext cx="1505200" cy="228600"/>
          </a:xfrm>
          <a:prstGeom prst="rect">
            <a:avLst/>
          </a:prstGeom>
        </p:spPr>
        <p:txBody>
          <a:bodyPr/>
          <a:lstStyle/>
          <a:p>
            <a:fld id="{37372BE2-151A-4377-837B-42D528CD68B6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5CF1B-6916-BDBE-7708-2622F3C270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03302" y="3448034"/>
            <a:ext cx="819152" cy="24768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48561-0A86-7303-9109-48EF1A9DDA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 rot="5400000">
            <a:off x="4343400" y="6453188"/>
            <a:ext cx="3505200" cy="228600"/>
          </a:xfrm>
        </p:spPr>
        <p:txBody>
          <a:bodyPr/>
          <a:lstStyle/>
          <a:p>
            <a:r>
              <a:rPr lang="nl-NL"/>
              <a:t>© Gridtefy B.V. 2026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27627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slide 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53F43-0B13-3535-B4AE-9005ECB65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1238" y="2390890"/>
            <a:ext cx="5449523" cy="164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806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slide 3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25D908-A03D-A35E-14F6-64BC4837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136" y="2416475"/>
            <a:ext cx="6695727" cy="202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850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slide 3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FE685C5-2515-51C2-6884-C77354301D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4603" y="2416475"/>
            <a:ext cx="6122794" cy="202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681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2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21FD639-B8AC-EB07-49A2-03B3E3BEA9E0}"/>
              </a:ext>
            </a:extLst>
          </p:cNvPr>
          <p:cNvSpPr txBox="1"/>
          <p:nvPr/>
        </p:nvSpPr>
        <p:spPr>
          <a:xfrm>
            <a:off x="4052886" y="3829600"/>
            <a:ext cx="408622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>
                <a:solidFill>
                  <a:schemeClr val="accent1"/>
                </a:solidFill>
                <a:latin typeface="Aptos Display" panose="020B0004020202020204" pitchFamily="34" charset="0"/>
              </a:rPr>
              <a:t>Thank you!</a:t>
            </a:r>
          </a:p>
          <a:p>
            <a:pPr algn="ctr"/>
            <a:endParaRPr lang="en-US" sz="6600">
              <a:solidFill>
                <a:schemeClr val="accent1"/>
              </a:solidFill>
              <a:latin typeface="Aptos Display" panose="020B0004020202020204" pitchFamily="34" charset="0"/>
            </a:endParaRPr>
          </a:p>
          <a:p>
            <a:pPr algn="ctr"/>
            <a:r>
              <a:rPr lang="nl-NL" sz="1400">
                <a:solidFill>
                  <a:schemeClr val="accent1"/>
                </a:solidFill>
                <a:latin typeface="Aptos Display" panose="020B0004020202020204" pitchFamily="34" charset="0"/>
              </a:rPr>
              <a:t>Gridtefy B.V.   KvK 78727294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DE34F-3929-C347-9BB5-5001F7EE1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6756" y="889477"/>
            <a:ext cx="6559332" cy="197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715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s 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21FD639-B8AC-EB07-49A2-03B3E3BEA9E0}"/>
              </a:ext>
            </a:extLst>
          </p:cNvPr>
          <p:cNvSpPr txBox="1"/>
          <p:nvPr/>
        </p:nvSpPr>
        <p:spPr>
          <a:xfrm>
            <a:off x="4052886" y="3829600"/>
            <a:ext cx="408622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>
                <a:solidFill>
                  <a:schemeClr val="tx2">
                    <a:lumMod val="20000"/>
                    <a:lumOff val="80000"/>
                  </a:schemeClr>
                </a:solidFill>
              </a:rPr>
              <a:t>Thank you!</a:t>
            </a:r>
          </a:p>
          <a:p>
            <a:pPr algn="ctr"/>
            <a:endParaRPr lang="en-US" sz="660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nl-NL" sz="1400">
                <a:solidFill>
                  <a:schemeClr val="tx2">
                    <a:lumMod val="20000"/>
                    <a:lumOff val="80000"/>
                  </a:schemeClr>
                </a:solidFill>
              </a:rPr>
              <a:t>Gridtefy B.V.   KvK 78727294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DE34F-3929-C347-9BB5-5001F7EE1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6756" y="889477"/>
            <a:ext cx="6559332" cy="197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146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9476B4-2287-6C3A-10DE-514EF0E33B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en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CC9F52-545C-A9EB-01E5-41958914D8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4867C7D3-7F1E-394D-AD4C-3621DA870664}" type="slidenum">
              <a:t>‹#›</a:t>
            </a:fld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81F93-5B61-2557-2A80-EBE76A7591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lvl="0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31474169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0C1FF630-A8FE-F1BB-0BAD-9DE0DB9447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8000"/>
            <a:ext cx="10515600" cy="612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T Sans" panose="020B0503020203020204" pitchFamily="34" charset="0"/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6A23A3-1527-D7EE-7B6A-E75B440E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5147999" cy="4500000"/>
          </a:xfrm>
          <a:prstGeom prst="rect">
            <a:avLst/>
          </a:prstGeom>
        </p:spPr>
        <p:txBody>
          <a:bodyPr tIns="0"/>
          <a:lstStyle>
            <a:lvl1pPr marL="144000" indent="-144000">
              <a:lnSpc>
                <a:spcPct val="110000"/>
              </a:lnSpc>
              <a:buFont typeface="Wingdings" pitchFamily="2" charset="2"/>
              <a:buChar char="§"/>
              <a:defRPr sz="1600">
                <a:latin typeface="PT Sans" panose="020B0503020203020204" pitchFamily="34" charset="0"/>
              </a:defRPr>
            </a:lvl1pPr>
            <a:lvl2pPr marL="685800" indent="-144000">
              <a:lnSpc>
                <a:spcPct val="110000"/>
              </a:lnSpc>
              <a:buFont typeface="Wingdings" pitchFamily="2" charset="2"/>
              <a:buChar char="§"/>
              <a:defRPr sz="1400">
                <a:latin typeface="PT Sans" panose="020B0503020203020204" pitchFamily="34" charset="0"/>
              </a:defRPr>
            </a:lvl2pPr>
            <a:lvl3pPr marL="1143000" indent="-144000">
              <a:lnSpc>
                <a:spcPct val="110000"/>
              </a:lnSpc>
              <a:buFont typeface="Wingdings" pitchFamily="2" charset="2"/>
              <a:buChar char="§"/>
              <a:defRPr sz="1200">
                <a:latin typeface="PT Sans" panose="020B0503020203020204" pitchFamily="34" charset="0"/>
              </a:defRPr>
            </a:lvl3pPr>
            <a:lvl4pPr marL="1600200" indent="-144000">
              <a:lnSpc>
                <a:spcPct val="110000"/>
              </a:lnSpc>
              <a:buFont typeface="Wingdings" pitchFamily="2" charset="2"/>
              <a:buChar char="§"/>
              <a:defRPr sz="1100">
                <a:latin typeface="PT Sans" panose="020B0503020203020204" pitchFamily="34" charset="0"/>
              </a:defRPr>
            </a:lvl4pPr>
            <a:lvl5pPr marL="2057400" indent="-144000">
              <a:lnSpc>
                <a:spcPct val="110000"/>
              </a:lnSpc>
              <a:buFont typeface="Wingdings" pitchFamily="2" charset="2"/>
              <a:buChar char="§"/>
              <a:defRPr sz="1100">
                <a:latin typeface="PT Sans" panose="020B05030202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458159-5363-AB1E-C0C4-183B5EC1591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05801" y="1440000"/>
            <a:ext cx="5147999" cy="4500000"/>
          </a:xfrm>
          <a:prstGeom prst="rect">
            <a:avLst/>
          </a:prstGeom>
        </p:spPr>
        <p:txBody>
          <a:bodyPr tIns="0"/>
          <a:lstStyle>
            <a:lvl1pPr marL="144000" indent="-144000">
              <a:lnSpc>
                <a:spcPct val="110000"/>
              </a:lnSpc>
              <a:buFont typeface="Wingdings" pitchFamily="2" charset="2"/>
              <a:buChar char="§"/>
              <a:defRPr sz="1600">
                <a:latin typeface="PT Sans" panose="020B0503020203020204" pitchFamily="34" charset="0"/>
              </a:defRPr>
            </a:lvl1pPr>
            <a:lvl2pPr marL="685800" indent="-144000">
              <a:lnSpc>
                <a:spcPct val="110000"/>
              </a:lnSpc>
              <a:buFont typeface="Wingdings" pitchFamily="2" charset="2"/>
              <a:buChar char="§"/>
              <a:defRPr sz="1400">
                <a:latin typeface="PT Sans" panose="020B0503020203020204" pitchFamily="34" charset="0"/>
              </a:defRPr>
            </a:lvl2pPr>
            <a:lvl3pPr marL="1143000" indent="-144000">
              <a:lnSpc>
                <a:spcPct val="110000"/>
              </a:lnSpc>
              <a:buFont typeface="Wingdings" pitchFamily="2" charset="2"/>
              <a:buChar char="§"/>
              <a:defRPr sz="1200">
                <a:latin typeface="PT Sans" panose="020B0503020203020204" pitchFamily="34" charset="0"/>
              </a:defRPr>
            </a:lvl3pPr>
            <a:lvl4pPr marL="1600200" indent="-144000">
              <a:lnSpc>
                <a:spcPct val="110000"/>
              </a:lnSpc>
              <a:buFont typeface="Wingdings" pitchFamily="2" charset="2"/>
              <a:buChar char="§"/>
              <a:defRPr sz="1100">
                <a:latin typeface="PT Sans" panose="020B0503020203020204" pitchFamily="34" charset="0"/>
              </a:defRPr>
            </a:lvl4pPr>
            <a:lvl5pPr marL="2057400" indent="-144000">
              <a:lnSpc>
                <a:spcPct val="110000"/>
              </a:lnSpc>
              <a:buFont typeface="Wingdings" pitchFamily="2" charset="2"/>
              <a:buChar char="§"/>
              <a:defRPr sz="1100">
                <a:latin typeface="PT Sans" panose="020B05030202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8241539"/>
      </p:ext>
    </p:extLst>
  </p:cSld>
  <p:clrMapOvr>
    <a:masterClrMapping/>
  </p:clrMapOvr>
  <p:transition spd="med">
    <p:pull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96FB36-1A99-980C-10AE-AEFB0476E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7374467" cy="4174122"/>
          </a:xfrm>
          <a:prstGeom prst="rect">
            <a:avLst/>
          </a:prstGeom>
        </p:spPr>
        <p:txBody>
          <a:bodyPr tIns="0"/>
          <a:lstStyle>
            <a:lvl1pPr marL="144000" indent="-144000">
              <a:lnSpc>
                <a:spcPct val="110000"/>
              </a:lnSpc>
              <a:buFont typeface="Wingdings" pitchFamily="2" charset="2"/>
              <a:buChar char="§"/>
              <a:defRPr sz="1600">
                <a:latin typeface="PT Sans" panose="020B0503020203020204" pitchFamily="34" charset="0"/>
              </a:defRPr>
            </a:lvl1pPr>
            <a:lvl2pPr marL="685800" indent="-144000">
              <a:lnSpc>
                <a:spcPct val="110000"/>
              </a:lnSpc>
              <a:buFont typeface="Wingdings" pitchFamily="2" charset="2"/>
              <a:buChar char="§"/>
              <a:defRPr sz="1400">
                <a:latin typeface="PT Sans" panose="020B0503020203020204" pitchFamily="34" charset="0"/>
              </a:defRPr>
            </a:lvl2pPr>
            <a:lvl3pPr marL="1143000" indent="-144000">
              <a:lnSpc>
                <a:spcPct val="110000"/>
              </a:lnSpc>
              <a:buFont typeface="Wingdings" pitchFamily="2" charset="2"/>
              <a:buChar char="§"/>
              <a:defRPr sz="1200">
                <a:latin typeface="PT Sans" panose="020B0503020203020204" pitchFamily="34" charset="0"/>
              </a:defRPr>
            </a:lvl3pPr>
            <a:lvl4pPr marL="1600200" indent="-144000">
              <a:lnSpc>
                <a:spcPct val="110000"/>
              </a:lnSpc>
              <a:buFont typeface="Wingdings" pitchFamily="2" charset="2"/>
              <a:buChar char="§"/>
              <a:defRPr sz="1100">
                <a:latin typeface="PT Sans" panose="020B0503020203020204" pitchFamily="34" charset="0"/>
              </a:defRPr>
            </a:lvl4pPr>
            <a:lvl5pPr marL="2057400" indent="-144000">
              <a:lnSpc>
                <a:spcPct val="110000"/>
              </a:lnSpc>
              <a:buFont typeface="Wingdings" pitchFamily="2" charset="2"/>
              <a:buChar char="§"/>
              <a:defRPr sz="1100">
                <a:latin typeface="PT Sans" panose="020B0503020203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A0FE8F-93F6-6E42-32E1-82137FAC51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8000"/>
            <a:ext cx="10515600" cy="612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T Sans" panose="020B0503020203020204" pitchFamily="34" charset="0"/>
              </a:defRPr>
            </a:lvl1pPr>
          </a:lstStyle>
          <a:p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959867355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234" y="1333500"/>
            <a:ext cx="10507566" cy="484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D56455-B5DA-4D6E-4AC3-423B34838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53188"/>
            <a:ext cx="3505200" cy="228600"/>
          </a:xfrm>
          <a:prstGeom prst="rect">
            <a:avLst/>
          </a:prstGeom>
        </p:spPr>
        <p:txBody>
          <a:bodyPr anchor="ctr"/>
          <a:lstStyle>
            <a:lvl1pPr algn="l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A1B2C3D4-E5F6-7890-ABCD-EF1234567890}" type="datetime1">
              <a:rPr lang="en-US" smtClean="0"/>
              <a:pPr/>
              <a:t>7/1/26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99F6FC2-A4DD-9DF7-2A1F-3BCFBD321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3400" y="6453188"/>
            <a:ext cx="3505200" cy="228600"/>
          </a:xfrm>
          <a:prstGeom prst="rect">
            <a:avLst/>
          </a:prstGeom>
        </p:spPr>
        <p:txBody>
          <a:bodyPr anchor="ctr"/>
          <a:lstStyle>
            <a:lvl1pPr algn="ct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r>
              <a:rPr lang="en-US" dirty="0"/>
              <a:t>© Gridtefy B.V. 2026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4762A3B-290F-083C-7EE8-5F1C38B15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8600" y="6453188"/>
            <a:ext cx="1505200" cy="228600"/>
          </a:xfrm>
          <a:prstGeom prst="rect">
            <a:avLst/>
          </a:prstGeom>
        </p:spPr>
        <p:txBody>
          <a:bodyPr anchor="ctr"/>
          <a:lstStyle>
            <a:lvl1pPr algn="r">
              <a:defRPr sz="800" baseline="0">
                <a:solidFill>
                  <a:srgbClr val="808080"/>
                </a:solidFill>
                <a:latin typeface="Corbel" panose="02000503000000020004" pitchFamily="2" charset="0"/>
              </a:defRPr>
            </a:lvl1pPr>
          </a:lstStyle>
          <a:p>
            <a:fld id="{37372BE2-151A-4377-837B-42D528CD68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0510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  <p:sldLayoutId id="2147483888" r:id="rId17"/>
    <p:sldLayoutId id="2147483889" r:id="rId18"/>
    <p:sldLayoutId id="2147483890" r:id="rId19"/>
    <p:sldLayoutId id="2147483891" r:id="rId20"/>
    <p:sldLayoutId id="2147483892" r:id="rId21"/>
    <p:sldLayoutId id="2147483893" r:id="rId22"/>
    <p:sldLayoutId id="2147483894" r:id="rId23"/>
    <p:sldLayoutId id="2147483895" r:id="rId24"/>
    <p:sldLayoutId id="2147483896" r:id="rId25"/>
    <p:sldLayoutId id="2147483897" r:id="rId26"/>
    <p:sldLayoutId id="2147483898" r:id="rId27"/>
    <p:sldLayoutId id="2147483899" r:id="rId28"/>
    <p:sldLayoutId id="2147483900" r:id="rId29"/>
    <p:sldLayoutId id="2147483901" r:id="rId30"/>
    <p:sldLayoutId id="2147483902" r:id="rId31"/>
    <p:sldLayoutId id="2147483903" r:id="rId32"/>
    <p:sldLayoutId id="2147483904" r:id="rId33"/>
    <p:sldLayoutId id="2147483905" r:id="rId34"/>
    <p:sldLayoutId id="2147483906" r:id="rId35"/>
    <p:sldLayoutId id="2147483907" r:id="rId36"/>
    <p:sldLayoutId id="2147483908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baseline="0">
          <a:solidFill>
            <a:schemeClr val="accent1"/>
          </a:solidFill>
          <a:latin typeface="Corbel" panose="02000503000000020004" pitchFamily="2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accent1"/>
          </a:solidFill>
          <a:latin typeface="Corbel" panose="02000503000000020004" pitchFamily="2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Corbel" panose="02000503000000020004" pitchFamily="2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accent1"/>
          </a:solidFill>
          <a:latin typeface="Corbel" panose="02000503000000020004" pitchFamily="2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accent1"/>
          </a:solidFill>
          <a:latin typeface="Corbel" panose="02000503000000020004" pitchFamily="2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accent1"/>
          </a:solidFill>
          <a:latin typeface="Corbel" panose="02000503000000020004" pitchFamily="2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838" y="365125"/>
            <a:ext cx="10948086" cy="828000"/>
          </a:xfrm>
        </p:spPr>
        <p:txBody>
          <a:bodyPr wrap="square">
            <a:normAutofit/>
          </a:bodyPr>
          <a:lstStyle/>
          <a:p>
            <a:r>
              <a:rPr lang="en-US" sz="3200" dirty="0"/>
              <a:t>Four building blocks — TAPPaaS packages all four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82561" y="1463039"/>
            <a:ext cx="3345551" cy="2158481"/>
          </a:xfrm>
          <a:prstGeom prst="roundRect">
            <a:avLst/>
          </a:prstGeom>
          <a:solidFill>
            <a:srgbClr val="023047"/>
          </a:solidFill>
          <a:ln w="9525">
            <a:solidFill>
              <a:srgbClr val="0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SITE</a:t>
            </a:r>
          </a:p>
          <a:p>
            <a:pPr algn="ctr"/>
            <a:endParaRPr lang="en-US" sz="1600" b="1" dirty="0">
              <a:solidFill>
                <a:srgbClr val="FFFFFF"/>
              </a:solidFill>
            </a:endParaRPr>
          </a:p>
          <a:p>
            <a:pPr algn="ctr"/>
            <a:r>
              <a:rPr lang="en-US" sz="1600" dirty="0"/>
              <a:t>Where is data &amp; AI execution?</a:t>
            </a:r>
          </a:p>
          <a:p>
            <a:pPr algn="ctr"/>
            <a:r>
              <a:rPr lang="en-US" sz="1600" dirty="0"/>
              <a:t>(where data lives, where AI runs)</a:t>
            </a:r>
          </a:p>
          <a:p>
            <a:pPr algn="ctr"/>
            <a:r>
              <a:rPr lang="en-US" sz="1300" i="1" dirty="0">
                <a:solidFill>
                  <a:srgbClr val="CFEAF7"/>
                </a:solidFill>
              </a:rPr>
              <a:t>TAPPaaS: your own hardware, clustered and resilient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5824" y="1463040"/>
            <a:ext cx="3345551" cy="2158480"/>
          </a:xfrm>
          <a:prstGeom prst="roundRect">
            <a:avLst/>
          </a:prstGeom>
          <a:solidFill>
            <a:srgbClr val="219EBC"/>
          </a:solidFill>
          <a:ln w="9525">
            <a:solidFill>
              <a:srgbClr val="219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WORKLOADS ‘APPS’</a:t>
            </a:r>
          </a:p>
          <a:p>
            <a:pPr algn="ctr"/>
            <a:endParaRPr lang="en-US" sz="1600" b="1" dirty="0">
              <a:solidFill>
                <a:srgbClr val="FFFFFF"/>
              </a:solidFill>
            </a:endParaRP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Which apps, processes and AI use cases are in scope</a:t>
            </a:r>
          </a:p>
          <a:p>
            <a:pPr algn="ctr"/>
            <a:r>
              <a:rPr lang="en-US" sz="1300" i="1" dirty="0">
                <a:solidFill>
                  <a:srgbClr val="023047"/>
                </a:solidFill>
              </a:rPr>
              <a:t>TAPPaaS: files, collaboration, AI, automation — ready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2561" y="3958113"/>
            <a:ext cx="3345551" cy="2158481"/>
          </a:xfrm>
          <a:prstGeom prst="roundRect">
            <a:avLst/>
          </a:prstGeom>
          <a:solidFill>
            <a:srgbClr val="FB8500"/>
          </a:solidFill>
          <a:ln w="9525"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PEOPLE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</a:rPr>
              <a:t xml:space="preserve"> 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Which teams and roles have access and accountability</a:t>
            </a:r>
          </a:p>
          <a:p>
            <a:pPr algn="ctr"/>
            <a:r>
              <a:rPr lang="en-US" sz="1300" i="1" dirty="0">
                <a:solidFill>
                  <a:srgbClr val="023047"/>
                </a:solidFill>
              </a:rPr>
              <a:t>TAPPaaS: single sign-on identity built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5824" y="3958113"/>
            <a:ext cx="3345551" cy="2158481"/>
          </a:xfrm>
          <a:prstGeom prst="roundRect">
            <a:avLst/>
          </a:prstGeom>
          <a:solidFill>
            <a:srgbClr val="001966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ENVIRONMENTS</a:t>
            </a:r>
          </a:p>
          <a:p>
            <a:pPr algn="ctr"/>
            <a:endParaRPr lang="en-US" sz="1600" b="1" dirty="0">
              <a:solidFill>
                <a:srgbClr val="FFFFFF"/>
              </a:solidFill>
            </a:endParaRP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Which dependencies, guardrails and security boundaries apply</a:t>
            </a:r>
          </a:p>
          <a:p>
            <a:pPr algn="ctr"/>
            <a:r>
              <a:rPr lang="en-US" sz="1300" i="1" dirty="0">
                <a:solidFill>
                  <a:srgbClr val="CFEAF7"/>
                </a:solidFill>
              </a:rPr>
              <a:t>TAPPaaS: security by design, automated backup &amp; patching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19E3B7C-0863-359C-D50E-23E7BCE8F8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14253" y="6420000"/>
            <a:ext cx="10962845" cy="320000"/>
          </a:xfrm>
        </p:spPr>
        <p:txBody>
          <a:bodyPr/>
          <a:lstStyle/>
          <a:p>
            <a:r>
              <a:rPr lang="en-US" sz="1400" i="1"/>
              <a:t>the innovation is integrating and governing proven components — not inventing them — tappaas.org</a:t>
            </a:r>
          </a:p>
        </p:txBody>
      </p:sp>
    </p:spTree>
    <p:extLst>
      <p:ext uri="{BB962C8B-B14F-4D97-AF65-F5344CB8AC3E}">
        <p14:creationId xmlns:p14="http://schemas.microsoft.com/office/powerpoint/2010/main" val="277053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53" y="365125"/>
            <a:ext cx="10962845" cy="828675"/>
          </a:xfrm>
        </p:spPr>
        <p:txBody>
          <a:bodyPr wrap="square">
            <a:normAutofit fontScale="90000"/>
          </a:bodyPr>
          <a:lstStyle/>
          <a:p>
            <a:r>
              <a:rPr lang="en-US" dirty="0"/>
              <a:t>cloud continuum: right workload, right place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19E3B7C-0863-359C-D50E-23E7BCE8F8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43400" y="6453188"/>
            <a:ext cx="3505200" cy="228600"/>
          </a:xfrm>
        </p:spPr>
        <p:txBody>
          <a:bodyPr/>
          <a:lstStyle/>
          <a:p>
            <a:r>
              <a:rPr lang="en-US"/>
              <a:t>TAPPaaS — tappaas.org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4254" y="2365094"/>
            <a:ext cx="2099042" cy="1828800"/>
          </a:xfrm>
          <a:prstGeom prst="roundRect">
            <a:avLst/>
          </a:prstGeom>
          <a:solidFill>
            <a:srgbClr val="8FC7D9"/>
          </a:solidFill>
          <a:ln w="9525">
            <a:solidFill>
              <a:srgbClr val="8F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 xml:space="preserve">Public cloud / </a:t>
            </a:r>
            <a:r>
              <a:rPr sz="1200" b="1" dirty="0" err="1">
                <a:solidFill>
                  <a:schemeClr val="tx1"/>
                </a:solidFill>
              </a:rPr>
              <a:t>hyperscaler</a:t>
            </a:r>
            <a:r>
              <a:rPr sz="1200" b="1" dirty="0">
                <a:solidFill>
                  <a:schemeClr val="tx1"/>
                </a:solidFill>
              </a:rPr>
              <a:t>-native</a:t>
            </a:r>
            <a:endParaRPr lang="nl-NL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rgbClr val="023047"/>
              </a:solidFill>
            </a:endParaRPr>
          </a:p>
          <a:p>
            <a:pPr algn="ctr"/>
            <a:r>
              <a:rPr lang="en-US" sz="1200" b="1" dirty="0">
                <a:solidFill>
                  <a:srgbClr val="023047"/>
                </a:solidFill>
              </a:rPr>
              <a:t>Example: std. public AWS, Azure, GCP, OCI</a:t>
            </a:r>
            <a:endParaRPr sz="1200" b="1" dirty="0">
              <a:solidFill>
                <a:srgbClr val="02304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849930" y="2365094"/>
            <a:ext cx="2099042" cy="1828800"/>
          </a:xfrm>
          <a:prstGeom prst="roundRect">
            <a:avLst/>
          </a:prstGeom>
          <a:solidFill>
            <a:srgbClr val="219EBC"/>
          </a:solidFill>
          <a:ln w="9525">
            <a:solidFill>
              <a:srgbClr val="219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Public cloud with stronger sovereign controls</a:t>
            </a:r>
            <a:endParaRPr lang="nl-NL" sz="1200" b="1" dirty="0">
              <a:solidFill>
                <a:srgbClr val="FFFFFF"/>
              </a:solidFill>
            </a:endParaRPr>
          </a:p>
          <a:p>
            <a:pPr algn="ctr"/>
            <a:endParaRPr lang="en-US" sz="1200" b="1" dirty="0">
              <a:solidFill>
                <a:srgbClr val="FFFFFF"/>
              </a:solidFill>
            </a:endParaRPr>
          </a:p>
          <a:p>
            <a:pPr algn="ctr"/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Example: Public Sovereign AWS, Azure, GCP, OCI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85606" y="2365094"/>
            <a:ext cx="2099042" cy="1828800"/>
          </a:xfrm>
          <a:prstGeom prst="roundRect">
            <a:avLst/>
          </a:prstGeom>
          <a:solidFill>
            <a:srgbClr val="0E6B82"/>
          </a:solidFill>
          <a:ln w="9525">
            <a:solidFill>
              <a:srgbClr val="0E5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Public cloud with EU entity</a:t>
            </a:r>
          </a:p>
          <a:p>
            <a:pPr algn="ctr"/>
            <a:endParaRPr lang="en-US" sz="1200" b="1" dirty="0">
              <a:solidFill>
                <a:srgbClr val="FFFFFF"/>
              </a:solidFill>
            </a:endParaRPr>
          </a:p>
          <a:p>
            <a:pPr algn="ctr"/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 xml:space="preserve">Example: Local Public AWS (GmbH)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6960" y="2365094"/>
            <a:ext cx="2099043" cy="1828800"/>
          </a:xfrm>
          <a:prstGeom prst="roundRect">
            <a:avLst/>
          </a:prstGeom>
          <a:solidFill>
            <a:srgbClr val="003940"/>
          </a:solidFill>
          <a:ln w="9525">
            <a:solidFill>
              <a:srgbClr val="0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Private</a:t>
            </a:r>
            <a:r>
              <a:rPr lang="nl-NL" sz="1200" b="1" dirty="0">
                <a:solidFill>
                  <a:srgbClr val="FFFFFF"/>
                </a:solidFill>
              </a:rPr>
              <a:t xml:space="preserve"> Cloud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Full control</a:t>
            </a:r>
          </a:p>
          <a:p>
            <a:pPr algn="ctr"/>
            <a:endParaRPr lang="nl-NL" sz="1200" b="1" dirty="0">
              <a:solidFill>
                <a:srgbClr val="FFFFFF"/>
              </a:solidFill>
            </a:endParaRPr>
          </a:p>
          <a:p>
            <a:pPr algn="ctr"/>
            <a:endParaRPr lang="nl-NL" sz="1200" b="1" dirty="0">
              <a:solidFill>
                <a:srgbClr val="FFFFFF"/>
              </a:solidFill>
            </a:endParaRPr>
          </a:p>
          <a:p>
            <a:pPr algn="ctr"/>
            <a:endParaRPr lang="nl-NL" sz="1200" b="1" dirty="0">
              <a:solidFill>
                <a:srgbClr val="FFFFFF"/>
              </a:solidFill>
            </a:endParaRPr>
          </a:p>
          <a:p>
            <a:pPr algn="ctr"/>
            <a:endParaRPr lang="nl-NL" sz="1200" b="1" dirty="0">
              <a:solidFill>
                <a:srgbClr val="FFFFFF"/>
              </a:solidFill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41248" y="4610309"/>
            <a:ext cx="10515600" cy="0"/>
          </a:xfrm>
          <a:prstGeom prst="line">
            <a:avLst/>
          </a:prstGeom>
          <a:ln w="28575">
            <a:solidFill>
              <a:srgbClr val="FB8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468346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</a:rPr>
              <a:t>speed · convenience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468346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23047"/>
                </a:solidFill>
              </a:rPr>
              <a:t>control · auditability · optionality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F160BB1-9A4D-1478-AB79-DD65D3FE7C11}"/>
              </a:ext>
            </a:extLst>
          </p:cNvPr>
          <p:cNvSpPr/>
          <p:nvPr/>
        </p:nvSpPr>
        <p:spPr>
          <a:xfrm>
            <a:off x="7321282" y="2365094"/>
            <a:ext cx="2099042" cy="1828800"/>
          </a:xfrm>
          <a:prstGeom prst="roundRect">
            <a:avLst/>
          </a:prstGeom>
          <a:solidFill>
            <a:srgbClr val="0D5163"/>
          </a:solidFill>
          <a:ln w="9525">
            <a:solidFill>
              <a:srgbClr val="0E5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EU sovereign cloud</a:t>
            </a:r>
            <a:endParaRPr lang="nl-NL" sz="1200" b="1" dirty="0">
              <a:solidFill>
                <a:srgbClr val="FFFFFF"/>
              </a:solidFill>
            </a:endParaRPr>
          </a:p>
          <a:p>
            <a:pPr algn="ctr"/>
            <a:endParaRPr lang="en-US" sz="1200" b="1" dirty="0">
              <a:solidFill>
                <a:srgbClr val="FFFFFF"/>
              </a:solidFill>
            </a:endParaRPr>
          </a:p>
          <a:p>
            <a:pPr algn="ctr"/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 xml:space="preserve">Example: EU Cloud – NL Cloud, </a:t>
            </a:r>
            <a:r>
              <a:rPr lang="en-US" sz="1200" b="1" dirty="0" err="1">
                <a:solidFill>
                  <a:srgbClr val="FFFFFF"/>
                </a:solidFill>
              </a:rPr>
              <a:t>Scaleway</a:t>
            </a:r>
            <a:r>
              <a:rPr lang="en-US" sz="1200" b="1" dirty="0">
                <a:solidFill>
                  <a:srgbClr val="FFFFFF"/>
                </a:solidFill>
              </a:rPr>
              <a:t>, OVH</a:t>
            </a:r>
            <a:endParaRPr sz="1200" b="1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4BFBF-01D7-BD26-CD22-90444E5A72FB}"/>
              </a:ext>
            </a:extLst>
          </p:cNvPr>
          <p:cNvCxnSpPr/>
          <p:nvPr/>
        </p:nvCxnSpPr>
        <p:spPr>
          <a:xfrm>
            <a:off x="7252965" y="1556951"/>
            <a:ext cx="0" cy="3694671"/>
          </a:xfrm>
          <a:prstGeom prst="line">
            <a:avLst/>
          </a:prstGeom>
          <a:ln w="381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B50726-47FC-5462-FF9C-4809D7A518C1}"/>
              </a:ext>
            </a:extLst>
          </p:cNvPr>
          <p:cNvSpPr txBox="1"/>
          <p:nvPr/>
        </p:nvSpPr>
        <p:spPr>
          <a:xfrm>
            <a:off x="6623436" y="123704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Glass wall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F0283008-1A6F-84FC-DEA0-19969531E426}"/>
              </a:ext>
            </a:extLst>
          </p:cNvPr>
          <p:cNvSpPr/>
          <p:nvPr/>
        </p:nvSpPr>
        <p:spPr>
          <a:xfrm>
            <a:off x="1067469" y="1662784"/>
            <a:ext cx="5489448" cy="523123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2"/>
                </a:solidFill>
              </a:rPr>
              <a:t>Hyperscalers</a:t>
            </a:r>
            <a:r>
              <a:rPr lang="en-US" sz="1400" dirty="0">
                <a:solidFill>
                  <a:schemeClr val="bg2"/>
                </a:solidFill>
              </a:rPr>
              <a:t xml:space="preserve"> are moving to the right</a:t>
            </a:r>
          </a:p>
        </p:txBody>
      </p:sp>
      <p:pic>
        <p:nvPicPr>
          <p:cNvPr id="16" name="Picture 15" descr="TAPPaaS Logo">
            <a:extLst>
              <a:ext uri="{FF2B5EF4-FFF2-40B4-BE49-F238E27FC236}">
                <a16:creationId xmlns:a16="http://schemas.microsoft.com/office/drawing/2014/main" id="{75222932-807D-3C0D-D6A5-EBE07DCBE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81" y="3310000"/>
            <a:ext cx="780000" cy="7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EF011D-230A-093F-B104-698E605C1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770704" cy="417412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/>
              <a:t>Trusted - Automated - Private Platform as a (self hosted) Service</a:t>
            </a:r>
          </a:p>
          <a:p>
            <a:r>
              <a:rPr lang="en-US" sz="2000" b="1" dirty="0"/>
              <a:t>Trusted</a:t>
            </a:r>
            <a:r>
              <a:rPr lang="en-US" sz="2000" dirty="0"/>
              <a:t xml:space="preserve"> — open source and security by design: nothing you can’t inspect, no vendor lock-in</a:t>
            </a:r>
          </a:p>
          <a:p>
            <a:r>
              <a:rPr lang="en-US" sz="2000" b="1" dirty="0"/>
              <a:t>Automated</a:t>
            </a:r>
            <a:r>
              <a:rPr lang="en-US" sz="2000" dirty="0"/>
              <a:t xml:space="preserve"> — installation, patching and backup handled for you, matching the cloud experience</a:t>
            </a:r>
          </a:p>
          <a:p>
            <a:r>
              <a:rPr lang="en-US" sz="2000" b="1" dirty="0"/>
              <a:t>Private</a:t>
            </a:r>
            <a:r>
              <a:rPr lang="en-US" sz="2000" dirty="0"/>
              <a:t xml:space="preserve"> — on your own hardware, under your roof and your law</a:t>
            </a:r>
          </a:p>
          <a:p>
            <a:r>
              <a:rPr lang="en-US" sz="2000" b="1" dirty="0"/>
              <a:t>Resilient</a:t>
            </a:r>
            <a:r>
              <a:rPr lang="en-US" sz="2000" dirty="0"/>
              <a:t xml:space="preserve"> — connected to the Internet </a:t>
            </a:r>
            <a:r>
              <a:rPr lang="en-US" sz="2000" u="sng" dirty="0"/>
              <a:t>but not dependent</a:t>
            </a:r>
            <a:r>
              <a:rPr lang="en-US" sz="2000" dirty="0"/>
              <a:t xml:space="preserve"> on it; backed up, ready for off-grid</a:t>
            </a:r>
          </a:p>
          <a:p>
            <a:r>
              <a:rPr lang="en-US" sz="2000" b="1" dirty="0"/>
              <a:t>Compliant</a:t>
            </a:r>
            <a:r>
              <a:rPr lang="en-US" sz="2000" dirty="0"/>
              <a:t xml:space="preserve"> — ISO 27001 &amp; NIS2, under NL/EU jurisdiction</a:t>
            </a:r>
          </a:p>
          <a:p>
            <a:r>
              <a:rPr lang="en-US" sz="2000" b="1" dirty="0"/>
              <a:t>Cost-effective</a:t>
            </a:r>
            <a:r>
              <a:rPr lang="en-US" sz="2000" dirty="0"/>
              <a:t xml:space="preserve"> — cloud capability on your own resilient but inexpensive hardware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9B793A-E037-48A6-0EB0-E71B3875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 xml:space="preserve">Vision of </a:t>
            </a:r>
            <a:r>
              <a:rPr lang="en-US" sz="4000" dirty="0" err="1"/>
              <a:t>TAPPaaS</a:t>
            </a:r>
            <a:endParaRPr lang="en-US" sz="4000" dirty="0"/>
          </a:p>
        </p:txBody>
      </p:sp>
      <p:sp>
        <p:nvSpPr>
          <p:cNvPr id="5" name="TextBox tappaas.org"/>
          <p:cNvSpPr txBox="1"/>
          <p:nvPr/>
        </p:nvSpPr>
        <p:spPr>
          <a:xfrm>
            <a:off x="614253" y="6380000"/>
            <a:ext cx="10962845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23047"/>
                </a:solidFill>
              </a:rPr>
              <a:t>tappaas.org · sovereigncomputing.org</a:t>
            </a:r>
          </a:p>
        </p:txBody>
      </p:sp>
      <p:pic>
        <p:nvPicPr>
          <p:cNvPr id="4" name="Picture 3" descr="TAPPaaS Logo">
            <a:extLst>
              <a:ext uri="{FF2B5EF4-FFF2-40B4-BE49-F238E27FC236}">
                <a16:creationId xmlns:a16="http://schemas.microsoft.com/office/drawing/2014/main" id="{0E1D4749-0BFC-3020-9B88-811A0B713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29" y="174002"/>
            <a:ext cx="947996" cy="94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5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Gridtefy FY26">
  <a:themeElements>
    <a:clrScheme name="Gridtefy">
      <a:dk1>
        <a:sysClr val="windowText" lastClr="000000"/>
      </a:dk1>
      <a:lt1>
        <a:sysClr val="window" lastClr="FFFFFF"/>
      </a:lt1>
      <a:dk2>
        <a:srgbClr val="023047"/>
      </a:dk2>
      <a:lt2>
        <a:srgbClr val="8ECAE6"/>
      </a:lt2>
      <a:accent1>
        <a:srgbClr val="001966"/>
      </a:accent1>
      <a:accent2>
        <a:srgbClr val="023047"/>
      </a:accent2>
      <a:accent3>
        <a:srgbClr val="219EBC"/>
      </a:accent3>
      <a:accent4>
        <a:srgbClr val="339933"/>
      </a:accent4>
      <a:accent5>
        <a:srgbClr val="FFB703"/>
      </a:accent5>
      <a:accent6>
        <a:srgbClr val="FB8500"/>
      </a:accent6>
      <a:hlink>
        <a:srgbClr val="FF0000"/>
      </a:hlink>
      <a:folHlink>
        <a:srgbClr val="0033CC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A17ECBB-3680-7245-ACB1-CB1DFBDFF0A1}" vid="{C4E8495D-3F84-5649-8333-0778082147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00E901-89BA-BC4D-8A23-0FB2D55DAD4B}">
  <we:reference id="f5f369e5-aa35-49d7-ad7b-638152ddb008" version="1.0.0.0" store="EXCatalog" storeType="EXCatalog"/>
  <we:alternateReferences>
    <we:reference id="WA200010001" version="1.0.0.0" store="en-US" storeType="OMEX"/>
  </we:alternateReferences>
  <we:properties>
    <we:property name="Office.AutoShowTaskpaneWithDocument" value="true"/>
    <we:property name="claude.fileId" value="&quot;b9ddf89d-aca6-4c33-a503-3153a06bba04&quot;"/>
  </we:properties>
  <we:bindings/>
  <we:snapshot xmlns:r="http://schemas.openxmlformats.org/officeDocument/2006/relationships"/>
</we:webextension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CE5315F39DC843AD9B40C7BF709A81" ma:contentTypeVersion="7" ma:contentTypeDescription="Een nieuw document maken." ma:contentTypeScope="" ma:versionID="fbd8610e5c541e51d75afdf35c936221">
  <xsd:schema xmlns:xsd="http://www.w3.org/2001/XMLSchema" xmlns:xs="http://www.w3.org/2001/XMLSchema" xmlns:p="http://schemas.microsoft.com/office/2006/metadata/properties" xmlns:ns2="99b63b30-7b98-441d-8cf8-738750ee8983" targetNamespace="http://schemas.microsoft.com/office/2006/metadata/properties" ma:root="true" ma:fieldsID="609dc1c7664be3e2f8b2bd78b89936dd" ns2:_="">
    <xsd:import namespace="99b63b30-7b98-441d-8cf8-738750ee89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b63b30-7b98-441d-8cf8-738750ee89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822685-F2A9-43CF-A6DA-B05E5FE5B5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b63b30-7b98-441d-8cf8-738750ee89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394D2E-A5E2-4C25-B41B-14DB06AF6644}">
  <ds:schemaRefs>
    <ds:schemaRef ds:uri="http://www.w3.org/XML/1998/namespace"/>
    <ds:schemaRef ds:uri="http://schemas.microsoft.com/office/infopath/2007/PartnerControls"/>
    <ds:schemaRef ds:uri="99b63b30-7b98-441d-8cf8-738750ee8983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C31F53F-8679-4CAB-B649-662166A861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2004</Words>
  <Application>Microsoft Macintosh PowerPoint</Application>
  <PresentationFormat>Widescreen</PresentationFormat>
  <Paragraphs>264</Paragraphs>
  <Slides>17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Corbel</vt:lpstr>
      <vt:lpstr>Helvetica</vt:lpstr>
      <vt:lpstr>Inter</vt:lpstr>
      <vt:lpstr>PT Sans</vt:lpstr>
      <vt:lpstr>Wingdings</vt:lpstr>
      <vt:lpstr>Gridtefy FY26</vt:lpstr>
      <vt:lpstr>Sovereign AI — from boardroom to server room</vt:lpstr>
      <vt:lpstr>Who we are</vt:lpstr>
      <vt:lpstr>The tension: adoption is high, value capture is rare</vt:lpstr>
      <vt:lpstr>What we learned from you</vt:lpstr>
      <vt:lpstr>What is sovereign digital autonomy</vt:lpstr>
      <vt:lpstr>Cloud Simplified: four key building blocks</vt:lpstr>
      <vt:lpstr>A sovereignty score makes the choice explicit</vt:lpstr>
      <vt:lpstr>Have we lost our way? What are our options</vt:lpstr>
      <vt:lpstr>cloud continuum: right workload, right place</vt:lpstr>
      <vt:lpstr>Vision of TAPPaaS</vt:lpstr>
      <vt:lpstr>TAPPaaS in one view</vt:lpstr>
      <vt:lpstr>PowerPoint Presentation</vt:lpstr>
      <vt:lpstr>How to start?  Phase  1 – Alignment is the key to success</vt:lpstr>
      <vt:lpstr>Sovereignty by design</vt:lpstr>
      <vt:lpstr>PowerPoint Presentation</vt:lpstr>
      <vt:lpstr>Sovereigncomputing.org</vt:lpstr>
      <vt:lpstr>Who we are</vt:lpstr>
    </vt:vector>
  </TitlesOfParts>
  <Company>Gridtefy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Gridtefy FY26 Template</dc:title>
  <dc:creator>Gridtefy B.V.</dc:creator>
  <cp:lastModifiedBy>Erik van Busschbach</cp:lastModifiedBy>
  <cp:revision>18</cp:revision>
  <dcterms:created xsi:type="dcterms:W3CDTF">2026-03-09T01:26:37Z</dcterms:created>
  <dcterms:modified xsi:type="dcterms:W3CDTF">2026-07-01T05:42:41Z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0x01010008CE5315F39DC843AD9B40C7BF709A81</vt:lpwstr>
  </property>
</Properties>
</file>